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One-sentence summary: this project shows, live, how software can clean up the distortion that radio amplifiers create, so they can run more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speaker analogy. On the chart, a perfect amplifier would be a straight line. The orange dots bend down at high input: that is compression. The spread of dots is the memory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reasons: energy bills and battery life, legal limits on interference, and user experience. Back-off is like never driving above second gear: safe but wasteful.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idea of digital predistortion. The feedback loop is what makes it adaptive: we listen to the amplifier's output and keep adjusting the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gaps are the motivation. Each one maps to a feature of the app: live loop, full Volterra model, CPU+GPU, same setup for every algorithm, and open source with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quick tour of the screenshot: tiles at the top, spectrum in the middle, error trace and constellation below, per-stage timing at the bottom. If possible, show the app live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depth M is how many past samples the model looks at. The chart shows the moment adaptation starts: the blue line falls and settles within a few frames of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shoulders either side of the main channel: they drop sharply. Default scenario: 16-QAM, 25 MHz wide, Rapp amplifier with memory, 44 model coefficients. 23× is 13.6 dB and 40× is 16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 RLS needs about 349 ms per frame at memory depth 8; Block RLS needs 15 ms. Pruning plus adapting every 8th frame brings it to 0.58 ms. The GPU takes over at memory depth 12 and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limits; they are also the roadmap. Invite people to clone the repo and try the scenarios from the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2970"/>
              </a:spcAft>
              <a:buNone/>
            </a:pPr>
            <a:r>
              <a:rPr sz="5400" b="1">
                <a:solidFill>
                  <a:srgbClr val="1B1F24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430"/>
              </a:spcAft>
              <a:buNone/>
            </a:pPr>
            <a:r>
              <a:rPr sz="2600" b="0">
                <a:solidFill>
                  <a:srgbClr val="1F5FBF"/>
                </a:solidFill>
                <a:latin typeface="Helvetica Neue"/>
              </a:rPr>
              <a:t>Teaching a radio amplifier to stay clean, using software that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990"/>
              </a:spcAft>
              <a:buNone/>
            </a:pPr>
            <a:r>
              <a:rPr sz="1800" b="0">
                <a:solidFill>
                  <a:srgbClr val="5A6370"/>
                </a:solidFill>
                <a:latin typeface="Helvetica Neue"/>
              </a:rPr>
              <a:t>A real-time simulator for adaptive digital predistortion on Apple Silicon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770"/>
              </a:spcAft>
              <a:buNone/>
            </a:pPr>
            <a:r>
              <a:rPr sz="1400" b="0">
                <a:solidFill>
                  <a:srgbClr val="5A6370"/>
                </a:solidFill>
                <a:latin typeface="Helvetica Neue"/>
              </a:rPr>
              <a:t>Boniface Mundia  ·  October 2026  ·  github.com/BonnieMundia/VolterraDSPPredictor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The problem: amplifiers distort when pushed hard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760720" cy="4572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292608" indent="-237744">
              <a:spcAft>
                <a:spcPts val="1045"/>
              </a:spcAft>
              <a:buChar char="•"/>
            </a:pPr>
            <a:r>
              <a:rPr sz="1900" b="0">
                <a:solidFill>
                  <a:srgbClr val="1B1F24"/>
                </a:solidFill>
                <a:latin typeface="Helvetica Neue"/>
              </a:rPr>
              <a:t>Every phone mast, Wi-Fi router and phone has a power amplifier that boosts the signal before the antenna</a:t>
            </a:r>
          </a:p>
          <a:p>
            <a:pPr marL="292608" indent="-237744">
              <a:spcAft>
                <a:spcPts val="1045"/>
              </a:spcAft>
              <a:buChar char="•"/>
            </a:pPr>
            <a:r>
              <a:rPr sz="1900" b="0">
                <a:solidFill>
                  <a:srgbClr val="1B1F24"/>
                </a:solidFill>
                <a:latin typeface="Helvetica Neue"/>
              </a:rPr>
              <a:t>Like a speaker turned up too loud, it distorts near its limit: the loudest moments get squashed and twisted</a:t>
            </a:r>
          </a:p>
          <a:p>
            <a:pPr marL="292608" indent="-237744">
              <a:spcAft>
                <a:spcPts val="1045"/>
              </a:spcAft>
              <a:buChar char="•"/>
            </a:pPr>
            <a:r>
              <a:rPr sz="1900" b="0">
                <a:solidFill>
                  <a:srgbClr val="1B1F24"/>
                </a:solidFill>
                <a:latin typeface="Helvetica Neue"/>
              </a:rPr>
              <a:t>It also has memory: what it does now depends on what it just did</a:t>
            </a:r>
          </a:p>
          <a:p>
            <a:pPr marL="292608" indent="-237744">
              <a:spcAft>
                <a:spcPts val="1045"/>
              </a:spcAft>
              <a:buChar char="•"/>
            </a:pPr>
            <a:r>
              <a:rPr sz="1900" b="0">
                <a:solidFill>
                  <a:srgbClr val="1B1F24"/>
                </a:solidFill>
                <a:latin typeface="Helvetica Neue"/>
              </a:rPr>
              <a:t>Result: errors in our own signal and noise that spills into other people's channels</a:t>
            </a:r>
          </a:p>
        </p:txBody>
      </p:sp>
      <p:pic>
        <p:nvPicPr>
          <p:cNvPr id="7" name="Picture 6" descr="am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937760" cy="25936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4175572"/>
            <a:ext cx="493776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715"/>
              </a:spcAft>
              <a:buNone/>
            </a:pPr>
            <a:r>
              <a:rPr sz="1300" b="0">
                <a:solidFill>
                  <a:srgbClr val="5A6370"/>
                </a:solidFill>
                <a:latin typeface="Helvetica Neue"/>
              </a:rPr>
              <a:t>Measured output (orange) falls below the ideal straight line as the input gets louder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82296" cy="283464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301752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1F5FBF"/>
                </a:solidFill>
                <a:latin typeface="Helvetica Neue"/>
              </a:rPr>
              <a:t>Energy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The amplifier is the biggest power user in a radio. It is most efficient near its limit, which is exactly where it distorts.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4592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645920"/>
            <a:ext cx="82296" cy="2834640"/>
          </a:xfrm>
          <a:prstGeom prst="rect">
            <a:avLst/>
          </a:prstGeom>
          <a:solidFill>
            <a:srgbClr val="E0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847088"/>
            <a:ext cx="301752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E0662F"/>
                </a:solidFill>
                <a:latin typeface="Helvetica Neue"/>
              </a:rPr>
              <a:t>Neighbours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Distortion leaks into neighbouring frequency channels. Regulators set strict limits on this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645920"/>
            <a:ext cx="3474720" cy="283464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1645920"/>
            <a:ext cx="82296" cy="2834640"/>
          </a:xfrm>
          <a:prstGeom prst="rect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847088"/>
            <a:ext cx="3017520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3BA272"/>
                </a:solidFill>
                <a:latin typeface="Helvetica Neue"/>
              </a:rPr>
              <a:t>Quality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A distorted signal causes bit errors, so users get slower, less reliable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100"/>
              </a:spcAft>
              <a:buNone/>
            </a:pPr>
            <a:r>
              <a:rPr sz="2000" b="0">
                <a:solidFill>
                  <a:srgbClr val="1B1F24"/>
                </a:solidFill>
                <a:latin typeface="Helvetica Neue"/>
              </a:rPr>
              <a:t>Today's common fix is to turn the volume down ("back-off"). It works, but it wastes energy and money on every transmitter.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The idea: pre-distort the signal on purpose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9050">
            <a:solidFill>
              <a:srgbClr val="5A63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194560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935"/>
              </a:spcAft>
              <a:buNone/>
            </a:pPr>
            <a:r>
              <a:rPr sz="1700" b="1">
                <a:solidFill>
                  <a:srgbClr val="1B1F24"/>
                </a:solidFill>
                <a:latin typeface="Helvetica Neue"/>
              </a:rPr>
              <a:t>Clean signal</a:t>
            </a:r>
          </a:p>
          <a:p>
            <a:pPr algn="ctr">
              <a:spcAft>
                <a:spcPts val="660"/>
              </a:spcAft>
              <a:buNone/>
            </a:pPr>
            <a:r>
              <a:rPr sz="1200" b="0">
                <a:solidFill>
                  <a:srgbClr val="5A6370"/>
                </a:solidFill>
                <a:latin typeface="Helvetica Neue"/>
              </a:rPr>
              <a:t>what we want to send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 w="1905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377440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935"/>
              </a:spcAft>
              <a:buNone/>
            </a:pPr>
            <a:r>
              <a:rPr sz="1700" b="1">
                <a:solidFill>
                  <a:srgbClr val="1B1F24"/>
                </a:solidFill>
                <a:latin typeface="Helvetica Neue"/>
              </a:rPr>
              <a:t>Predistorter (DPD)</a:t>
            </a:r>
          </a:p>
          <a:p>
            <a:pPr algn="ctr">
              <a:spcAft>
                <a:spcPts val="660"/>
              </a:spcAft>
              <a:buNone/>
            </a:pPr>
            <a:r>
              <a:rPr sz="1200" b="0">
                <a:solidFill>
                  <a:srgbClr val="5A6370"/>
                </a:solidFill>
                <a:latin typeface="Helvetica Neue"/>
              </a:rPr>
              <a:t>bends it the opposite 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194560" cy="1005840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 w="19050">
            <a:solidFill>
              <a:srgbClr val="E0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194560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935"/>
              </a:spcAft>
              <a:buNone/>
            </a:pPr>
            <a:r>
              <a:rPr sz="1700" b="1">
                <a:solidFill>
                  <a:srgbClr val="1B1F24"/>
                </a:solidFill>
                <a:latin typeface="Helvetica Neue"/>
              </a:rPr>
              <a:t>Amplifier</a:t>
            </a:r>
          </a:p>
          <a:p>
            <a:pPr algn="ctr">
              <a:spcAft>
                <a:spcPts val="660"/>
              </a:spcAft>
              <a:buNone/>
            </a:pPr>
            <a:r>
              <a:rPr sz="1200" b="0">
                <a:solidFill>
                  <a:srgbClr val="5A6370"/>
                </a:solidFill>
                <a:latin typeface="Helvetica Neue"/>
              </a:rPr>
              <a:t>bends it 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8288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9050">
            <a:solidFill>
              <a:srgbClr val="3BA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828800"/>
            <a:ext cx="2377440" cy="10058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935"/>
              </a:spcAft>
              <a:buNone/>
            </a:pPr>
            <a:r>
              <a:rPr sz="1700" b="1">
                <a:solidFill>
                  <a:srgbClr val="1B1F24"/>
                </a:solidFill>
                <a:latin typeface="Helvetica Neue"/>
              </a:rPr>
              <a:t>Clean, strong output</a:t>
            </a:r>
          </a:p>
          <a:p>
            <a:pPr algn="ctr">
              <a:spcAft>
                <a:spcPts val="660"/>
              </a:spcAft>
              <a:buNone/>
            </a:pPr>
            <a:r>
              <a:rPr sz="1200" b="0">
                <a:solidFill>
                  <a:srgbClr val="5A6370"/>
                </a:solidFill>
                <a:latin typeface="Helvetica Neue"/>
              </a:rPr>
              <a:t>distortions cancel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331720"/>
            <a:ext cx="640080" cy="0"/>
          </a:xfrm>
          <a:prstGeom prst="line">
            <a:avLst/>
          </a:prstGeom>
          <a:ln w="254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2331720"/>
            <a:ext cx="640080" cy="0"/>
          </a:xfrm>
          <a:prstGeom prst="line">
            <a:avLst/>
          </a:prstGeom>
          <a:ln w="254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95360" y="2331720"/>
            <a:ext cx="640080" cy="0"/>
          </a:xfrm>
          <a:prstGeom prst="line">
            <a:avLst/>
          </a:prstGeom>
          <a:ln w="254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20640" y="34290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429000"/>
            <a:ext cx="3017520" cy="9144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935"/>
              </a:spcAft>
              <a:buNone/>
            </a:pPr>
            <a:r>
              <a:rPr sz="1700" b="1">
                <a:solidFill>
                  <a:srgbClr val="1B1F24"/>
                </a:solidFill>
                <a:latin typeface="Helvetica Neue"/>
              </a:rPr>
              <a:t>Measure &amp; learn</a:t>
            </a:r>
          </a:p>
          <a:p>
            <a:pPr algn="ctr">
              <a:spcAft>
                <a:spcPts val="660"/>
              </a:spcAft>
              <a:buNone/>
            </a:pPr>
            <a:r>
              <a:rPr sz="1200" b="0">
                <a:solidFill>
                  <a:srgbClr val="5A6370"/>
                </a:solidFill>
                <a:latin typeface="Helvetica Neue"/>
              </a:rPr>
              <a:t>compare output with the ideal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138160" y="2834640"/>
            <a:ext cx="2286000" cy="1051560"/>
          </a:xfrm>
          <a:prstGeom prst="line">
            <a:avLst/>
          </a:prstGeom>
          <a:ln w="254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4572000" y="2834640"/>
            <a:ext cx="548640" cy="1051560"/>
          </a:xfrm>
          <a:prstGeom prst="line">
            <a:avLst/>
          </a:prstGeom>
          <a:ln w="25400">
            <a:solidFill>
              <a:srgbClr val="1B1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709160"/>
            <a:ext cx="1088136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292608" indent="-237744">
              <a:spcAft>
                <a:spcPts val="1100"/>
              </a:spcAft>
              <a:buChar char="•"/>
            </a:pPr>
            <a:r>
              <a:rPr sz="2000" b="0">
                <a:solidFill>
                  <a:srgbClr val="1B1F24"/>
                </a:solidFill>
                <a:latin typeface="Helvetica Neue"/>
              </a:rPr>
              <a:t>Like glasses: the lens bends light the opposite way your eye does, so you end up seeing clearly</a:t>
            </a:r>
          </a:p>
          <a:p>
            <a:pPr marL="292608" indent="-237744">
              <a:spcAft>
                <a:spcPts val="1100"/>
              </a:spcAft>
              <a:buChar char="•"/>
            </a:pPr>
            <a:r>
              <a:rPr sz="2000" b="0">
                <a:solidFill>
                  <a:srgbClr val="1B1F24"/>
                </a:solidFill>
                <a:latin typeface="Helvetica Neue"/>
              </a:rPr>
              <a:t>The amplifier changes with heat and age, so the predistorter keeps learning while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The gap this project addresses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292608" indent="-237744">
              <a:spcAft>
                <a:spcPts val="1155"/>
              </a:spcAft>
              <a:buChar char="•"/>
            </a:pPr>
            <a:r>
              <a:rPr sz="2100" b="0">
                <a:solidFill>
                  <a:srgbClr val="1B1F24"/>
                </a:solidFill>
                <a:latin typeface="Helvetica Neue"/>
              </a:rPr>
              <a:t>Most research is done offline: record data, compute, plot. You can't watch the learning happen or change things live.</a:t>
            </a:r>
          </a:p>
          <a:p>
            <a:pPr marL="292608" indent="-237744">
              <a:spcAft>
                <a:spcPts val="1155"/>
              </a:spcAft>
              <a:buChar char="•"/>
            </a:pPr>
            <a:r>
              <a:rPr sz="2100" b="0">
                <a:solidFill>
                  <a:srgbClr val="1B1F24"/>
                </a:solidFill>
                <a:latin typeface="Helvetica Neue"/>
              </a:rPr>
              <a:t>The most accurate model (the full Volterra series) is often dismissed as too slow. Few tools measure what it really costs.</a:t>
            </a:r>
          </a:p>
          <a:p>
            <a:pPr marL="292608" indent="-237744">
              <a:spcAft>
                <a:spcPts val="1155"/>
              </a:spcAft>
              <a:buChar char="•"/>
            </a:pPr>
            <a:r>
              <a:rPr sz="2100" b="0">
                <a:solidFill>
                  <a:srgbClr val="1B1F24"/>
                </a:solidFill>
                <a:latin typeface="Helvetica Neue"/>
              </a:rPr>
              <a:t>Modern chips where the CPU and GPU share memory, like Apple Silicon, are rarely studied for this job.</a:t>
            </a:r>
          </a:p>
          <a:p>
            <a:pPr marL="292608" indent="-237744">
              <a:spcAft>
                <a:spcPts val="1155"/>
              </a:spcAft>
              <a:buChar char="•"/>
            </a:pPr>
            <a:r>
              <a:rPr sz="2100" b="0">
                <a:solidFill>
                  <a:srgbClr val="1B1F24"/>
                </a:solidFill>
                <a:latin typeface="Helvetica Neue"/>
              </a:rPr>
              <a:t>Learning methods are compared in different papers with different setups, so the comparison isn't fair.</a:t>
            </a:r>
          </a:p>
          <a:p>
            <a:pPr marL="292608" indent="-237744">
              <a:spcAft>
                <a:spcPts val="1155"/>
              </a:spcAft>
              <a:buChar char="•"/>
            </a:pPr>
            <a:r>
              <a:rPr sz="2100" b="0">
                <a:solidFill>
                  <a:srgbClr val="1B1F24"/>
                </a:solidFill>
                <a:latin typeface="Helvetica Neue"/>
              </a:rPr>
              <a:t>Few open, reproducible tools exist for teaching: commercial toolboxes are closed and lab hardware is expensive.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6</a:t>
            </a:r>
          </a:p>
        </p:txBody>
      </p:sp>
      <p:pic>
        <p:nvPicPr>
          <p:cNvPr id="6" name="Picture 5" descr="live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126480" cy="4615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14313"/>
            <a:ext cx="61264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715"/>
              </a:spcAft>
              <a:buNone/>
            </a:pPr>
            <a:r>
              <a:rPr sz="1300" b="0">
                <a:solidFill>
                  <a:srgbClr val="5A6370"/>
                </a:solidFill>
                <a:latin typeface="Helvetica Neue"/>
              </a:rPr>
              <a:t>The Live Dashboard updates ten times a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371600"/>
            <a:ext cx="4663440" cy="4937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A Mac app that simulates the whole loop live: signal, predistorter, amplifier, learning, measurement</a:t>
            </a:r>
          </a:p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Change any setting while it runs and see the effect instantly</a:t>
            </a:r>
          </a:p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Four tabs: signal &amp; amplifier, model engine, learning lab, live dashboard</a:t>
            </a:r>
          </a:p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Written in Swift on Apple's Accelerate and Metal, with no external libraries and a 66-case test suite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How it learns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4937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100"/>
              </a:spcAft>
              <a:buNone/>
            </a:pPr>
            <a:r>
              <a:rPr sz="2000" b="1">
                <a:solidFill>
                  <a:srgbClr val="1F5FBF"/>
                </a:solidFill>
                <a:latin typeface="Helvetica Neue"/>
              </a:rPr>
              <a:t>A model with memory</a:t>
            </a:r>
          </a:p>
          <a:p>
            <a:pPr>
              <a:spcAft>
                <a:spcPts val="935"/>
              </a:spcAft>
              <a:buNone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The Volterra model looks at the last few samples and how they combine, not just the current one.</a:t>
            </a:r>
          </a:p>
          <a:p>
            <a:pPr>
              <a:spcAft>
                <a:spcPts val="1100"/>
              </a:spcAft>
              <a:buNone/>
            </a:pPr>
            <a:r>
              <a:rPr sz="2000" b="1">
                <a:solidFill>
                  <a:srgbClr val="1F5FBF"/>
                </a:solidFill>
                <a:latin typeface="Helvetica Neue"/>
              </a:rPr>
              <a:t>Three ways to learn its settings</a:t>
            </a:r>
          </a:p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NLMS: small, cheap steps. Simple, but slow to settle.</a:t>
            </a:r>
          </a:p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RLS: smart steps. Fast to settle, but heavy maths on every sample.</a:t>
            </a:r>
          </a:p>
          <a:p>
            <a:pPr marL="292608" indent="-237744">
              <a:spcAft>
                <a:spcPts val="935"/>
              </a:spcAft>
              <a:buChar char="•"/>
            </a:pPr>
            <a:r>
              <a:rPr sz="1700" b="0">
                <a:solidFill>
                  <a:srgbClr val="1B1F24"/>
                </a:solidFill>
                <a:latin typeface="Helvetica Neue"/>
              </a:rPr>
              <a:t>Block RLS: the same smart answer, computed in batches. Fast and accurate, and the default.</a:t>
            </a:r>
          </a:p>
        </p:txBody>
      </p:sp>
      <p:pic>
        <p:nvPicPr>
          <p:cNvPr id="7" name="Picture 6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577840" cy="26819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218139"/>
            <a:ext cx="55778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715"/>
              </a:spcAft>
              <a:buNone/>
            </a:pPr>
            <a:r>
              <a:rPr sz="1300" b="0">
                <a:solidFill>
                  <a:srgbClr val="5A6370"/>
                </a:solidFill>
                <a:latin typeface="Helvetica Neue"/>
              </a:rPr>
              <a:t>Switching the predistorter on: the error (blue) drops about 15 dB below the uncorrected amplifier (orange) and stays there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Results: a much cleaner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82296" cy="155448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265176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1F5FBF"/>
                </a:solidFill>
                <a:latin typeface="Helvetica Neue"/>
              </a:rPr>
              <a:t>23× less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leakage to neighbours</a:t>
            </a:r>
            <a:br/>
            <a:r>
              <a:rPr sz="1500" b="0">
                <a:solidFill>
                  <a:srgbClr val="1B1F24"/>
                </a:solidFill>
                <a:latin typeface="Helvetica Neue"/>
              </a:rPr>
              <a:t>−31.7 → −45.3 dBc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6324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82296" cy="1554480"/>
          </a:xfrm>
          <a:prstGeom prst="rect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265176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3BA272"/>
                </a:solidFill>
                <a:latin typeface="Helvetica Neue"/>
              </a:rPr>
              <a:t>40× less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error in our own signal</a:t>
            </a:r>
            <a:br/>
            <a:r>
              <a:rPr sz="1500" b="0">
                <a:solidFill>
                  <a:srgbClr val="1B1F24"/>
                </a:solidFill>
                <a:latin typeface="Helvetica Neue"/>
              </a:rPr>
              <a:t>−23.4 → −39.4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3108960" cy="1554480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754880"/>
            <a:ext cx="82296" cy="1554480"/>
          </a:xfrm>
          <a:prstGeom prst="rect">
            <a:avLst/>
          </a:prstGeom>
          <a:solidFill>
            <a:srgbClr val="E0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265176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E0662F"/>
                </a:solidFill>
                <a:latin typeface="Helvetica Neue"/>
              </a:rPr>
              <a:t>7× lower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symbol error (EVM)</a:t>
            </a:r>
            <a:br/>
            <a:r>
              <a:rPr sz="1500" b="0">
                <a:solidFill>
                  <a:srgbClr val="1B1F24"/>
                </a:solidFill>
                <a:latin typeface="Helvetica Neue"/>
              </a:rPr>
              <a:t>4.9 % → 0.7 %</a:t>
            </a:r>
          </a:p>
        </p:txBody>
      </p:sp>
      <p:pic>
        <p:nvPicPr>
          <p:cNvPr id="15" name="Picture 14" descr="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371600"/>
            <a:ext cx="7589520" cy="24704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023360" y="3915211"/>
            <a:ext cx="75895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715"/>
              </a:spcAft>
              <a:buNone/>
            </a:pPr>
            <a:r>
              <a:rPr sz="1300" b="0">
                <a:solidFill>
                  <a:srgbClr val="5A6370"/>
                </a:solidFill>
                <a:latin typeface="Helvetica Neue"/>
              </a:rPr>
              <a:t>Spectrum: orange = amplifier alone, blue = with predistortion, green = ideal</a:t>
            </a:r>
          </a:p>
        </p:txBody>
      </p:sp>
      <p:pic>
        <p:nvPicPr>
          <p:cNvPr id="17" name="Picture 16" descr="ampm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389120"/>
            <a:ext cx="3291840" cy="19104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23360" y="6372714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715"/>
              </a:spcAft>
              <a:buNone/>
            </a:pPr>
            <a:r>
              <a:rPr sz="1300" b="0">
                <a:solidFill>
                  <a:srgbClr val="5A6370"/>
                </a:solidFill>
                <a:latin typeface="Helvetica Neue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434840"/>
            <a:ext cx="402336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880"/>
              </a:spcAft>
              <a:buNone/>
            </a:pPr>
            <a:r>
              <a:rPr sz="1600" b="0">
                <a:solidFill>
                  <a:srgbClr val="1B1F24"/>
                </a:solidFill>
                <a:latin typeface="Helvetica Neue"/>
              </a:rPr>
              <a:t>The twist is gone too: with predistortion the amplifier's phase error (blue) stays flat at 0°. Without it (orange) it wanders by 10–15°.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Making it fast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82296" cy="2468880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301752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1F5FBF"/>
                </a:solidFill>
                <a:latin typeface="Helvetica Neue"/>
              </a:rPr>
              <a:t>23× faster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Block RLS versus classic RLS (M = 8), with exactly the same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463040"/>
            <a:ext cx="82296" cy="2468880"/>
          </a:xfrm>
          <a:prstGeom prst="rect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664208"/>
            <a:ext cx="301752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3BA272"/>
                </a:solidFill>
                <a:latin typeface="Helvetica Neue"/>
              </a:rPr>
              <a:t>26× faster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Keep only the important model terms and learn on 1 frame in 8. Same leakage result.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4630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1463040"/>
            <a:ext cx="82296" cy="2468880"/>
          </a:xfrm>
          <a:prstGeom prst="rect">
            <a:avLst/>
          </a:prstGeom>
          <a:solidFill>
            <a:srgbClr val="E0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664208"/>
            <a:ext cx="3017520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430"/>
              </a:spcAft>
              <a:buNone/>
            </a:pPr>
            <a:r>
              <a:rPr sz="2600" b="1">
                <a:solidFill>
                  <a:srgbClr val="E0662F"/>
                </a:solidFill>
                <a:latin typeface="Helvetica Neue"/>
              </a:rPr>
              <a:t>Auto CPU / GPU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The app times both processors while it runs and picks the faster one. The GPU wins for big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881360" cy="1828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marL="292608" indent="-237744">
              <a:spcAft>
                <a:spcPts val="1100"/>
              </a:spcAft>
              <a:buChar char="•"/>
            </a:pPr>
            <a:r>
              <a:rPr sz="2000" b="0">
                <a:solidFill>
                  <a:srgbClr val="1B1F24"/>
                </a:solidFill>
                <a:latin typeface="Helvetica Neue"/>
              </a:rPr>
              <a:t>All numbers measured on an Apple M5 laptop chip (Release build, 4,096-sample frames)</a:t>
            </a:r>
          </a:p>
          <a:p>
            <a:pPr marL="292608" indent="-237744">
              <a:spcAft>
                <a:spcPts val="1100"/>
              </a:spcAft>
              <a:buChar char="•"/>
            </a:pPr>
            <a:r>
              <a:rPr sz="2000" b="0">
                <a:solidFill>
                  <a:srgbClr val="1B1F24"/>
                </a:solidFill>
                <a:latin typeface="Helvetica Neue"/>
              </a:rPr>
              <a:t>Lesson: the "too slow" full model becomes practical with smart maths, not just faster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760"/>
              </a:spcAft>
              <a:buNone/>
            </a:pPr>
            <a:r>
              <a:rPr sz="3200" b="1">
                <a:solidFill>
                  <a:srgbClr val="1B1F24"/>
                </a:solidFill>
                <a:latin typeface="Helvetica Neue"/>
              </a:rPr>
              <a:t>Limits, next steps, and try it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1097280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VolterraDSPPredictor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14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605"/>
              </a:spcAft>
              <a:buNone/>
            </a:pPr>
            <a:r>
              <a:rPr sz="1100" b="0">
                <a:solidFill>
                  <a:srgbClr val="5A6370"/>
                </a:solidFill>
                <a:latin typeface="Helvetica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206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155"/>
              </a:spcAft>
              <a:buNone/>
            </a:pPr>
            <a:r>
              <a:rPr sz="2100" b="1">
                <a:solidFill>
                  <a:srgbClr val="E0662F"/>
                </a:solidFill>
                <a:latin typeface="Helvetica Neue"/>
              </a:rPr>
              <a:t>Honest limits</a:t>
            </a:r>
          </a:p>
          <a:p>
            <a:pPr marL="292608" indent="-237744">
              <a:spcAft>
                <a:spcPts val="990"/>
              </a:spcAft>
              <a:buChar char="•"/>
            </a:pPr>
            <a:r>
              <a:rPr sz="1800" b="0">
                <a:solidFill>
                  <a:srgbClr val="1B1F24"/>
                </a:solidFill>
                <a:latin typeface="Helvetica Neue"/>
              </a:rPr>
              <a:t>Simulated amplifier, not real hardware yet</a:t>
            </a:r>
          </a:p>
          <a:p>
            <a:pPr marL="292608" indent="-237744">
              <a:spcAft>
                <a:spcPts val="990"/>
              </a:spcAft>
              <a:buChar char="•"/>
            </a:pPr>
            <a:r>
              <a:rPr sz="1800" b="0">
                <a:solidFill>
                  <a:srgbClr val="1B1F24"/>
                </a:solidFill>
                <a:latin typeface="Helvetica Neue"/>
              </a:rPr>
              <a:t>Third-order model only (no 5th/7th order)</a:t>
            </a:r>
          </a:p>
          <a:p>
            <a:pPr marL="292608" indent="-237744">
              <a:spcAft>
                <a:spcPts val="990"/>
              </a:spcAft>
              <a:buChar char="•"/>
            </a:pPr>
            <a:r>
              <a:rPr sz="1800" b="0">
                <a:solidFill>
                  <a:srgbClr val="1B1F24"/>
                </a:solidFill>
                <a:latin typeface="Helvetica Neue"/>
              </a:rPr>
              <a:t>Not yet at full radio speed (122.88 MS/s)</a:t>
            </a:r>
          </a:p>
          <a:p>
            <a:pPr>
              <a:spcAft>
                <a:spcPts val="1155"/>
              </a:spcAft>
              <a:buNone/>
            </a:pPr>
            <a:r>
              <a:rPr sz="2100" b="1">
                <a:solidFill>
                  <a:srgbClr val="1F5FBF"/>
                </a:solidFill>
                <a:latin typeface="Helvetica Neue"/>
              </a:rPr>
              <a:t>Next steps</a:t>
            </a:r>
          </a:p>
          <a:p>
            <a:pPr marL="292608" indent="-237744">
              <a:spcAft>
                <a:spcPts val="990"/>
              </a:spcAft>
              <a:buChar char="•"/>
            </a:pPr>
            <a:r>
              <a:rPr sz="1800" b="0">
                <a:solidFill>
                  <a:srgbClr val="1B1F24"/>
                </a:solidFill>
                <a:latin typeface="Helvetica Neue"/>
              </a:rPr>
              <a:t>Test on a real amplifier with a software radio</a:t>
            </a:r>
          </a:p>
          <a:p>
            <a:pPr marL="292608" indent="-237744">
              <a:spcAft>
                <a:spcPts val="990"/>
              </a:spcAft>
              <a:buChar char="•"/>
            </a:pPr>
            <a:r>
              <a:rPr sz="1800" b="0">
                <a:solidFill>
                  <a:srgbClr val="1B1F24"/>
                </a:solidFill>
                <a:latin typeface="Helvetica Neue"/>
              </a:rPr>
              <a:t>Higher-order and neural-network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82296" cy="2743200"/>
          </a:xfrm>
          <a:prstGeom prst="rect">
            <a:avLst/>
          </a:prstGeom>
          <a:solidFill>
            <a:srgbClr val="3BA2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64208"/>
            <a:ext cx="4663440" cy="2468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>
              <a:spcAft>
                <a:spcPts val="1650"/>
              </a:spcAft>
              <a:buNone/>
            </a:pPr>
            <a:r>
              <a:rPr sz="3000" b="1">
                <a:solidFill>
                  <a:srgbClr val="3BA272"/>
                </a:solidFill>
                <a:latin typeface="Helvetica Neue"/>
              </a:rPr>
              <a:t>Try it</a:t>
            </a:r>
          </a:p>
          <a:p>
            <a:pPr>
              <a:spcAft>
                <a:spcPts val="825"/>
              </a:spcAft>
              <a:buNone/>
            </a:pPr>
            <a:r>
              <a:rPr sz="1500" b="0">
                <a:solidFill>
                  <a:srgbClr val="1B1F24"/>
                </a:solidFill>
                <a:latin typeface="Helvetica Neue"/>
              </a:rPr>
              <a:t>github.com/BonnieMundia/VolterraDSPPredictor</a:t>
            </a:r>
            <a:br/>
            <a:r>
              <a:rPr sz="1500" b="0">
                <a:solidFill>
                  <a:srgbClr val="1B1F24"/>
                </a:solidFill>
                <a:latin typeface="Helvetica Neue"/>
              </a:rPr>
              <a:t>Open in Xcode 27 on an Apple Silicon Mac, then press ⌘R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1206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1650"/>
              </a:spcAft>
              <a:buNone/>
            </a:pPr>
            <a:r>
              <a:rPr sz="3000" b="1">
                <a:solidFill>
                  <a:srgbClr val="1B1F24"/>
                </a:solidFill>
                <a:latin typeface="Helvetica Neue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VolterraDSPPredictor</dc:title>
  <dc:subject/>
  <dc:creator>Boniface Mundia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